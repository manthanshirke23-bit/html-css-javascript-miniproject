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BrewBound: Craft Beer Discovery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Manthan Shirke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TextEdit="1"/>
          </p:cNvSpPr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pic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50292"/>
            <a:ext cx="13716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12"/>
          <p:cNvSpPr txBox="1"/>
          <p:nvPr/>
        </p:nvSpPr>
        <p:spPr>
          <a:xfrm>
            <a:off x="1572768" y="0"/>
            <a:ext cx="7223760" cy="64922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 lang="en-GB">
                <a:solidFill>
                  <a:srgbClr val="FFFFFF"/>
                </a:solidFill>
              </a:rPr>
              <a:t>01   Problem Statement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10896" y="758952"/>
            <a:ext cx="8522208" cy="50292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600" lang="en-GB">
                <a:solidFill>
                  <a:srgbClr val="A81B50"/>
                </a:solidFill>
              </a:rPr>
              <a:t>The Craft Beer Discovery Gap</a:t>
            </a:r>
          </a:p>
        </p:txBody>
      </p:sp>
      <p:sp>
        <p:nvSpPr>
          <p:cNvPr id="30" name="r30"/>
          <p:cNvSpPr>
            <a:spLocks noTextEdit="1"/>
          </p:cNvSpPr>
          <p:nvPr/>
        </p:nvSpPr>
        <p:spPr>
          <a:xfrm>
            <a:off x="201168" y="1463040"/>
            <a:ext cx="41605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31" name="r31"/>
          <p:cNvSpPr>
            <a:spLocks noTextEdit="1"/>
          </p:cNvSpPr>
          <p:nvPr/>
        </p:nvSpPr>
        <p:spPr>
          <a:xfrm>
            <a:off x="201168" y="1463040"/>
            <a:ext cx="64008" cy="1325880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347472" y="1554480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chemeClr val="dk1"/>
                </a:solidFill>
              </a:rPr>
              <a:t>No Central Directory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347472" y="1892808"/>
            <a:ext cx="3886200" cy="80467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Craft beer fans have no single platform to discover local breweries easily.</a:t>
            </a:r>
          </a:p>
        </p:txBody>
      </p:sp>
      <p:sp>
        <p:nvSpPr>
          <p:cNvPr id="40" name="r40"/>
          <p:cNvSpPr>
            <a:spLocks noTextEdit="1"/>
          </p:cNvSpPr>
          <p:nvPr/>
        </p:nvSpPr>
        <p:spPr>
          <a:xfrm>
            <a:off x="4581144" y="1463040"/>
            <a:ext cx="41605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41" name="r41"/>
          <p:cNvSpPr>
            <a:spLocks noTextEdit="1"/>
          </p:cNvSpPr>
          <p:nvPr/>
        </p:nvSpPr>
        <p:spPr>
          <a:xfrm>
            <a:off x="4581144" y="1463040"/>
            <a:ext cx="64008" cy="1325880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42"/>
          <p:cNvSpPr txBox="1"/>
          <p:nvPr/>
        </p:nvSpPr>
        <p:spPr>
          <a:xfrm>
            <a:off x="4727448" y="1554480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chemeClr val="dk1"/>
                </a:solidFill>
              </a:rPr>
              <a:t>Hidden Events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4727448" y="1892808"/>
            <a:ext cx="3886200" cy="80467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Tasting events and flight nights go unnoticed — no dedicated listing space.</a:t>
            </a:r>
          </a:p>
        </p:txBody>
      </p:sp>
      <p:sp>
        <p:nvSpPr>
          <p:cNvPr id="50" name="r50"/>
          <p:cNvSpPr>
            <a:spLocks noTextEdit="1"/>
          </p:cNvSpPr>
          <p:nvPr/>
        </p:nvSpPr>
        <p:spPr>
          <a:xfrm>
            <a:off x="201168" y="2907792"/>
            <a:ext cx="41605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51" name="r51"/>
          <p:cNvSpPr>
            <a:spLocks noTextEdit="1"/>
          </p:cNvSpPr>
          <p:nvPr/>
        </p:nvSpPr>
        <p:spPr>
          <a:xfrm>
            <a:off x="201168" y="2907792"/>
            <a:ext cx="64008" cy="1325880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52"/>
          <p:cNvSpPr txBox="1"/>
          <p:nvPr/>
        </p:nvSpPr>
        <p:spPr>
          <a:xfrm>
            <a:off x="347472" y="2999232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chemeClr val="dk1"/>
                </a:solidFill>
              </a:rPr>
              <a:t>Missing Beer Details</a:t>
            </a:r>
          </a:p>
        </p:txBody>
      </p:sp>
      <p:sp>
        <p:nvSpPr>
          <p:cNvPr id="53" name="t53"/>
          <p:cNvSpPr txBox="1"/>
          <p:nvPr/>
        </p:nvSpPr>
        <p:spPr>
          <a:xfrm>
            <a:off x="347472" y="3337560"/>
            <a:ext cx="3886200" cy="80467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ABV, IBU, and flavor profiles are scattered across separate brewery websites.</a:t>
            </a:r>
          </a:p>
        </p:txBody>
      </p:sp>
      <p:sp>
        <p:nvSpPr>
          <p:cNvPr id="60" name="r60"/>
          <p:cNvSpPr>
            <a:spLocks noTextEdit="1"/>
          </p:cNvSpPr>
          <p:nvPr/>
        </p:nvSpPr>
        <p:spPr>
          <a:xfrm>
            <a:off x="4581144" y="2907792"/>
            <a:ext cx="41605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61" name="r61"/>
          <p:cNvSpPr>
            <a:spLocks noTextEdit="1"/>
          </p:cNvSpPr>
          <p:nvPr/>
        </p:nvSpPr>
        <p:spPr>
          <a:xfrm>
            <a:off x="4581144" y="2907792"/>
            <a:ext cx="64008" cy="1325880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62"/>
          <p:cNvSpPr txBox="1"/>
          <p:nvPr/>
        </p:nvSpPr>
        <p:spPr>
          <a:xfrm>
            <a:off x="4727448" y="2999232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chemeClr val="dk1"/>
                </a:solidFill>
              </a:rPr>
              <a:t>Unclear Pricing</a:t>
            </a:r>
          </a:p>
        </p:txBody>
      </p:sp>
      <p:sp>
        <p:nvSpPr>
          <p:cNvPr id="63" name="t63"/>
          <p:cNvSpPr txBox="1"/>
          <p:nvPr/>
        </p:nvSpPr>
        <p:spPr>
          <a:xfrm>
            <a:off x="4727448" y="3337560"/>
            <a:ext cx="3886200" cy="80467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Tasting flight and brewery tour pricing is hard to find and compare.</a:t>
            </a:r>
          </a:p>
        </p:txBody>
      </p:sp>
      <p:sp>
        <p:nvSpPr>
          <p:cNvPr id="70" name="r70"/>
          <p:cNvSpPr>
            <a:spLocks noTextEdit="1"/>
          </p:cNvSpPr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71"/>
          <p:cNvSpPr txBox="1"/>
          <p:nvPr/>
        </p:nvSpPr>
        <p:spPr>
          <a:xfrm>
            <a:off x="310896" y="4818888"/>
            <a:ext cx="8522208" cy="32918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sz="900" lang="en-GB">
                <a:solidFill>
                  <a:srgbClr val="FFCCDD"/>
                </a:solidFill>
              </a:rPr>
              <a:t>Over 9,000+ craft breweries in the US — yet most users discover them only by word of mouth.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TextEdit="1"/>
          </p:cNvSpPr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rgbClr val="8B124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pic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50292"/>
            <a:ext cx="13716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12"/>
          <p:cNvSpPr txBox="1"/>
          <p:nvPr/>
        </p:nvSpPr>
        <p:spPr>
          <a:xfrm>
            <a:off x="1572768" y="0"/>
            <a:ext cx="7223760" cy="64922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 lang="en-GB">
                <a:solidFill>
                  <a:srgbClr val="FFFFFF"/>
                </a:solidFill>
              </a:rPr>
              <a:t>02   Your Solution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10896" y="777240"/>
            <a:ext cx="8522208" cy="50292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600" lang="en-GB">
                <a:solidFill>
                  <a:srgbClr val="F2C060"/>
                </a:solidFill>
              </a:rPr>
              <a:t>Introducing BrewBound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310896" y="1371600"/>
            <a:ext cx="7772400" cy="36576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sz="1100" lang="en-GB">
                <a:solidFill>
                  <a:srgbClr val="FFDDEE"/>
                </a:solidFill>
              </a:rPr>
              <a:t>A one-stop web platform to discover, explore, and book craft brewery experiences.</a:t>
            </a:r>
          </a:p>
        </p:txBody>
      </p:sp>
      <p:sp>
        <p:nvSpPr>
          <p:cNvPr id="30" name="r30"/>
          <p:cNvSpPr>
            <a:spLocks noTextEdit="1"/>
          </p:cNvSpPr>
          <p:nvPr/>
        </p:nvSpPr>
        <p:spPr>
          <a:xfrm>
            <a:off x="201168" y="1901952"/>
            <a:ext cx="4160520" cy="1207008"/>
          </a:xfrm>
          <a:prstGeom prst="rect">
            <a:avLst/>
          </a:prstGeom>
          <a:solidFill>
            <a:srgbClr val="8B1240"/>
          </a:solidFill>
          <a:ln>
            <a:solidFill>
              <a:srgbClr val="FFAACC"/>
            </a:solidFill>
          </a:ln>
        </p:spPr>
        <p:txBody>
          <a:bodyPr/>
          <a:lstStyle/>
          <a:p/>
        </p:txBody>
      </p:sp>
      <p:sp>
        <p:nvSpPr>
          <p:cNvPr id="31" name="r31"/>
          <p:cNvSpPr>
            <a:spLocks noTextEdit="1"/>
          </p:cNvSpPr>
          <p:nvPr/>
        </p:nvSpPr>
        <p:spPr>
          <a:xfrm>
            <a:off x="201168" y="1901952"/>
            <a:ext cx="4160520" cy="54864"/>
          </a:xfrm>
          <a:prstGeom prst="rect">
            <a:avLst/>
          </a:prstGeom>
          <a:solidFill>
            <a:srgbClr val="F2C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329184" y="2011680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F2C060"/>
                </a:solidFill>
              </a:rPr>
              <a:t>🏠  Brewery Directory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329184" y="2340864"/>
            <a:ext cx="3886200" cy="685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FFDDEE"/>
                </a:solidFill>
              </a:rPr>
              <a:t>Browse local breweries via brewery.html with photos and full info</a:t>
            </a:r>
          </a:p>
        </p:txBody>
      </p:sp>
      <p:sp>
        <p:nvSpPr>
          <p:cNvPr id="40" name="r40"/>
          <p:cNvSpPr>
            <a:spLocks noTextEdit="1"/>
          </p:cNvSpPr>
          <p:nvPr/>
        </p:nvSpPr>
        <p:spPr>
          <a:xfrm>
            <a:off x="4581144" y="1901952"/>
            <a:ext cx="4160520" cy="1207008"/>
          </a:xfrm>
          <a:prstGeom prst="rect">
            <a:avLst/>
          </a:prstGeom>
          <a:solidFill>
            <a:srgbClr val="8B1240"/>
          </a:solidFill>
          <a:ln>
            <a:solidFill>
              <a:srgbClr val="FFAACC"/>
            </a:solidFill>
          </a:ln>
        </p:spPr>
        <p:txBody>
          <a:bodyPr/>
          <a:lstStyle/>
          <a:p/>
        </p:txBody>
      </p:sp>
      <p:sp>
        <p:nvSpPr>
          <p:cNvPr id="41" name="r41"/>
          <p:cNvSpPr>
            <a:spLocks noTextEdit="1"/>
          </p:cNvSpPr>
          <p:nvPr/>
        </p:nvSpPr>
        <p:spPr>
          <a:xfrm>
            <a:off x="4581144" y="1901952"/>
            <a:ext cx="4160520" cy="54864"/>
          </a:xfrm>
          <a:prstGeom prst="rect">
            <a:avLst/>
          </a:prstGeom>
          <a:solidFill>
            <a:srgbClr val="F2C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42"/>
          <p:cNvSpPr txBox="1"/>
          <p:nvPr/>
        </p:nvSpPr>
        <p:spPr>
          <a:xfrm>
            <a:off x="4709159" y="2011680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F2C060"/>
                </a:solidFill>
              </a:rPr>
              <a:t>📅  Events Page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4709159" y="2340864"/>
            <a:ext cx="3886200" cy="685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FFDDEE"/>
                </a:solidFill>
              </a:rPr>
              <a:t>Explore upcoming tasting events and flight nights via events.html</a:t>
            </a:r>
          </a:p>
        </p:txBody>
      </p:sp>
      <p:sp>
        <p:nvSpPr>
          <p:cNvPr id="50" name="r50"/>
          <p:cNvSpPr>
            <a:spLocks noTextEdit="1"/>
          </p:cNvSpPr>
          <p:nvPr/>
        </p:nvSpPr>
        <p:spPr>
          <a:xfrm>
            <a:off x="201168" y="3246120"/>
            <a:ext cx="4160520" cy="1207008"/>
          </a:xfrm>
          <a:prstGeom prst="rect">
            <a:avLst/>
          </a:prstGeom>
          <a:solidFill>
            <a:srgbClr val="8B1240"/>
          </a:solidFill>
          <a:ln>
            <a:solidFill>
              <a:srgbClr val="FFAACC"/>
            </a:solidFill>
          </a:ln>
        </p:spPr>
        <p:txBody>
          <a:bodyPr/>
          <a:lstStyle/>
          <a:p/>
        </p:txBody>
      </p:sp>
      <p:sp>
        <p:nvSpPr>
          <p:cNvPr id="51" name="r51"/>
          <p:cNvSpPr>
            <a:spLocks noTextEdit="1"/>
          </p:cNvSpPr>
          <p:nvPr/>
        </p:nvSpPr>
        <p:spPr>
          <a:xfrm>
            <a:off x="201168" y="3246120"/>
            <a:ext cx="4160520" cy="54864"/>
          </a:xfrm>
          <a:prstGeom prst="rect">
            <a:avLst/>
          </a:prstGeom>
          <a:solidFill>
            <a:srgbClr val="F2C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52"/>
          <p:cNvSpPr txBox="1"/>
          <p:nvPr/>
        </p:nvSpPr>
        <p:spPr>
          <a:xfrm>
            <a:off x="329184" y="3355848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F2C060"/>
                </a:solidFill>
              </a:rPr>
              <a:t>🍺  Beer Profiles</a:t>
            </a:r>
          </a:p>
        </p:txBody>
      </p:sp>
      <p:sp>
        <p:nvSpPr>
          <p:cNvPr id="53" name="t53"/>
          <p:cNvSpPr txBox="1"/>
          <p:nvPr/>
        </p:nvSpPr>
        <p:spPr>
          <a:xfrm>
            <a:off x="329184" y="3685031"/>
            <a:ext cx="3886200" cy="685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FFDDEE"/>
                </a:solidFill>
              </a:rPr>
              <a:t>View ABV%, IBU levels and full flavor profiles for every beer</a:t>
            </a:r>
          </a:p>
        </p:txBody>
      </p:sp>
      <p:sp>
        <p:nvSpPr>
          <p:cNvPr id="60" name="r60"/>
          <p:cNvSpPr>
            <a:spLocks noTextEdit="1"/>
          </p:cNvSpPr>
          <p:nvPr/>
        </p:nvSpPr>
        <p:spPr>
          <a:xfrm>
            <a:off x="4581144" y="3246120"/>
            <a:ext cx="4160520" cy="1207008"/>
          </a:xfrm>
          <a:prstGeom prst="rect">
            <a:avLst/>
          </a:prstGeom>
          <a:solidFill>
            <a:srgbClr val="8B1240"/>
          </a:solidFill>
          <a:ln>
            <a:solidFill>
              <a:srgbClr val="FFAACC"/>
            </a:solidFill>
          </a:ln>
        </p:spPr>
        <p:txBody>
          <a:bodyPr/>
          <a:lstStyle/>
          <a:p/>
        </p:txBody>
      </p:sp>
      <p:sp>
        <p:nvSpPr>
          <p:cNvPr id="61" name="r61"/>
          <p:cNvSpPr>
            <a:spLocks noTextEdit="1"/>
          </p:cNvSpPr>
          <p:nvPr/>
        </p:nvSpPr>
        <p:spPr>
          <a:xfrm>
            <a:off x="4581144" y="3246120"/>
            <a:ext cx="4160520" cy="54864"/>
          </a:xfrm>
          <a:prstGeom prst="rect">
            <a:avLst/>
          </a:prstGeom>
          <a:solidFill>
            <a:srgbClr val="F2C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62"/>
          <p:cNvSpPr txBox="1"/>
          <p:nvPr/>
        </p:nvSpPr>
        <p:spPr>
          <a:xfrm>
            <a:off x="4709159" y="3355848"/>
            <a:ext cx="3886200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F2C060"/>
                </a:solidFill>
              </a:rPr>
              <a:t>🎟  Book Experiences</a:t>
            </a:r>
          </a:p>
        </p:txBody>
      </p:sp>
      <p:sp>
        <p:nvSpPr>
          <p:cNvPr id="63" name="t63"/>
          <p:cNvSpPr txBox="1"/>
          <p:nvPr/>
        </p:nvSpPr>
        <p:spPr>
          <a:xfrm>
            <a:off x="4709159" y="3685031"/>
            <a:ext cx="3886200" cy="685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FFDDEE"/>
                </a:solidFill>
              </a:rPr>
              <a:t>Reserve tasting flights or brewery tours directly on the platform</a:t>
            </a:r>
          </a:p>
        </p:txBody>
      </p:sp>
      <p:sp>
        <p:nvSpPr>
          <p:cNvPr id="70" name="r70"/>
          <p:cNvSpPr>
            <a:spLocks noTextEdit="1"/>
          </p:cNvSpPr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6A0E3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71"/>
          <p:cNvSpPr txBox="1"/>
          <p:nvPr/>
        </p:nvSpPr>
        <p:spPr>
          <a:xfrm>
            <a:off x="310896" y="4818888"/>
            <a:ext cx="8522208" cy="32918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-GB">
                <a:solidFill>
                  <a:srgbClr val="FFCCDD"/>
                </a:solidFill>
              </a:rPr>
              <a:t>Pages: brewery.html  ·  events.html  ·  Tech Stack: HTML · CSS · 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TextEdit="1"/>
          </p:cNvSpPr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pic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50292"/>
            <a:ext cx="13716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12"/>
          <p:cNvSpPr txBox="1"/>
          <p:nvPr/>
        </p:nvSpPr>
        <p:spPr>
          <a:xfrm>
            <a:off x="1572768" y="0"/>
            <a:ext cx="7223760" cy="64922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 lang="en-GB">
                <a:solidFill>
                  <a:srgbClr val="FFFFFF"/>
                </a:solidFill>
              </a:rPr>
              <a:t>03   Working — Method &amp; Implementation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10896" y="758952"/>
            <a:ext cx="8522208" cy="50292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 lang="en-GB">
                <a:solidFill>
                  <a:srgbClr val="A81B50"/>
                </a:solidFill>
              </a:rPr>
              <a:t>How BrewBound Works</a:t>
            </a:r>
          </a:p>
        </p:txBody>
      </p:sp>
      <p:sp>
        <p:nvSpPr>
          <p:cNvPr id="100" name="r100"/>
          <p:cNvSpPr>
            <a:spLocks noTextEdit="1"/>
          </p:cNvSpPr>
          <p:nvPr/>
        </p:nvSpPr>
        <p:spPr>
          <a:xfrm>
            <a:off x="201168" y="1389888"/>
            <a:ext cx="2779776" cy="23591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01" name="r101"/>
          <p:cNvSpPr>
            <a:spLocks noTextEdit="1"/>
          </p:cNvSpPr>
          <p:nvPr/>
        </p:nvSpPr>
        <p:spPr>
          <a:xfrm>
            <a:off x="201168" y="1389888"/>
            <a:ext cx="2779776" cy="402336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102"/>
          <p:cNvSpPr txBox="1"/>
          <p:nvPr/>
        </p:nvSpPr>
        <p:spPr>
          <a:xfrm>
            <a:off x="201168" y="1389888"/>
            <a:ext cx="2779776" cy="402336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500" lang="en-GB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310896" y="1847088"/>
            <a:ext cx="2560320" cy="1828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Page structure &amp; layout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Brewery listing cards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Event listings section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Navigation &amp; footer</a:t>
            </a:r>
          </a:p>
        </p:txBody>
      </p:sp>
      <p:sp>
        <p:nvSpPr>
          <p:cNvPr id="110" name="r110"/>
          <p:cNvSpPr>
            <a:spLocks noTextEdit="1"/>
          </p:cNvSpPr>
          <p:nvPr/>
        </p:nvSpPr>
        <p:spPr>
          <a:xfrm>
            <a:off x="3182112" y="1389888"/>
            <a:ext cx="2779776" cy="23591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11" name="r111"/>
          <p:cNvSpPr>
            <a:spLocks noTextEdit="1"/>
          </p:cNvSpPr>
          <p:nvPr/>
        </p:nvSpPr>
        <p:spPr>
          <a:xfrm>
            <a:off x="3182112" y="1389888"/>
            <a:ext cx="2779776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112"/>
          <p:cNvSpPr txBox="1"/>
          <p:nvPr/>
        </p:nvSpPr>
        <p:spPr>
          <a:xfrm>
            <a:off x="3182112" y="1389888"/>
            <a:ext cx="2779776" cy="402336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500" lang="en-GB">
                <a:solidFill>
                  <a:srgbClr val="FFFFFF"/>
                </a:solidFill>
              </a:rPr>
              <a:t>CSS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3291840" y="1847088"/>
            <a:ext cx="2560320" cy="1828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Responsive card layout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Mobile-friendly grid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Hover effects on cards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Consistent brand styling</a:t>
            </a:r>
          </a:p>
        </p:txBody>
      </p:sp>
      <p:sp>
        <p:nvSpPr>
          <p:cNvPr id="120" name="r120"/>
          <p:cNvSpPr>
            <a:spLocks noTextEdit="1"/>
          </p:cNvSpPr>
          <p:nvPr/>
        </p:nvSpPr>
        <p:spPr>
          <a:xfrm>
            <a:off x="6163055" y="1389888"/>
            <a:ext cx="2779776" cy="235915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21" name="r121"/>
          <p:cNvSpPr>
            <a:spLocks noTextEdit="1"/>
          </p:cNvSpPr>
          <p:nvPr/>
        </p:nvSpPr>
        <p:spPr>
          <a:xfrm>
            <a:off x="6163055" y="1389888"/>
            <a:ext cx="2779776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t122"/>
          <p:cNvSpPr txBox="1"/>
          <p:nvPr/>
        </p:nvSpPr>
        <p:spPr>
          <a:xfrm>
            <a:off x="6163055" y="1389888"/>
            <a:ext cx="2779776" cy="402336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500" lang="en-GB">
                <a:solidFill>
                  <a:srgbClr val="FFFFFF"/>
                </a:solidFill>
              </a:rPr>
              <a:t>JS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6272783" y="1847088"/>
            <a:ext cx="2560320" cy="182880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Age verification popup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Blocks under-18 users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Dynamic page behavior</a:t>
            </a:r>
          </a:p>
          <a:p>
            <a:pPr indent="-228600" marL="228600" algn="l">
              <a:spcBef>
                <a:spcPts val="0"/>
              </a:spcBef>
              <a:spcAft>
                <a:spcPts val="60"/>
              </a:spcAft>
              <a:buChar char="•"/>
            </a:pPr>
            <a:r>
              <a:rPr b="0" sz="1000" lang="en-GB">
                <a:solidFill>
                  <a:schemeClr val="dk1"/>
                </a:solidFill>
              </a:rPr>
              <a:t>Interactive filtering</a:t>
            </a:r>
          </a:p>
        </p:txBody>
      </p:sp>
      <p:sp>
        <p:nvSpPr>
          <p:cNvPr id="125" name="r125"/>
          <p:cNvSpPr>
            <a:spLocks noTextEdit="1"/>
          </p:cNvSpPr>
          <p:nvPr/>
        </p:nvSpPr>
        <p:spPr>
          <a:xfrm>
            <a:off x="201168" y="3877056"/>
            <a:ext cx="8741664" cy="8778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26" name="r126"/>
          <p:cNvSpPr>
            <a:spLocks noTextEdit="1"/>
          </p:cNvSpPr>
          <p:nvPr/>
        </p:nvSpPr>
        <p:spPr>
          <a:xfrm>
            <a:off x="201168" y="3877056"/>
            <a:ext cx="64008" cy="87782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127"/>
          <p:cNvSpPr txBox="1"/>
          <p:nvPr/>
        </p:nvSpPr>
        <p:spPr>
          <a:xfrm>
            <a:off x="365760" y="3913632"/>
            <a:ext cx="2286000" cy="27432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-GB">
                <a:solidFill>
                  <a:srgbClr val="A81B50"/>
                </a:solidFill>
              </a:rPr>
              <a:t>Beer Info Displayed</a:t>
            </a:r>
          </a:p>
        </p:txBody>
      </p:sp>
      <p:sp>
        <p:nvSpPr>
          <p:cNvPr id="130" name="r130"/>
          <p:cNvSpPr>
            <a:spLocks noTextEdit="1"/>
          </p:cNvSpPr>
          <p:nvPr/>
        </p:nvSpPr>
        <p:spPr>
          <a:xfrm>
            <a:off x="365760" y="4224528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31" name="t131"/>
          <p:cNvSpPr txBox="1"/>
          <p:nvPr/>
        </p:nvSpPr>
        <p:spPr>
          <a:xfrm>
            <a:off x="365760" y="4224528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ABV %</a:t>
            </a:r>
          </a:p>
        </p:txBody>
      </p:sp>
      <p:sp>
        <p:nvSpPr>
          <p:cNvPr id="133" name="r133"/>
          <p:cNvSpPr>
            <a:spLocks noTextEdit="1"/>
          </p:cNvSpPr>
          <p:nvPr/>
        </p:nvSpPr>
        <p:spPr>
          <a:xfrm>
            <a:off x="3200400" y="4224528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34" name="t134"/>
          <p:cNvSpPr txBox="1"/>
          <p:nvPr/>
        </p:nvSpPr>
        <p:spPr>
          <a:xfrm>
            <a:off x="3200400" y="4224528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IBU Level</a:t>
            </a:r>
          </a:p>
        </p:txBody>
      </p:sp>
      <p:sp>
        <p:nvSpPr>
          <p:cNvPr id="136" name="r136"/>
          <p:cNvSpPr>
            <a:spLocks noTextEdit="1"/>
          </p:cNvSpPr>
          <p:nvPr/>
        </p:nvSpPr>
        <p:spPr>
          <a:xfrm>
            <a:off x="6035040" y="4224528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37" name="t137"/>
          <p:cNvSpPr txBox="1"/>
          <p:nvPr/>
        </p:nvSpPr>
        <p:spPr>
          <a:xfrm>
            <a:off x="6035040" y="4224528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Flavor Profiles</a:t>
            </a:r>
          </a:p>
        </p:txBody>
      </p:sp>
      <p:sp>
        <p:nvSpPr>
          <p:cNvPr id="139" name="r139"/>
          <p:cNvSpPr>
            <a:spLocks noTextEdit="1"/>
          </p:cNvSpPr>
          <p:nvPr/>
        </p:nvSpPr>
        <p:spPr>
          <a:xfrm>
            <a:off x="365760" y="4462272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40" name="t140"/>
          <p:cNvSpPr txBox="1"/>
          <p:nvPr/>
        </p:nvSpPr>
        <p:spPr>
          <a:xfrm>
            <a:off x="365760" y="4462272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Tasting Flights</a:t>
            </a:r>
          </a:p>
        </p:txBody>
      </p:sp>
      <p:sp>
        <p:nvSpPr>
          <p:cNvPr id="142" name="r142"/>
          <p:cNvSpPr>
            <a:spLocks noTextEdit="1"/>
          </p:cNvSpPr>
          <p:nvPr/>
        </p:nvSpPr>
        <p:spPr>
          <a:xfrm>
            <a:off x="3200400" y="4462272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43" name="t143"/>
          <p:cNvSpPr txBox="1"/>
          <p:nvPr/>
        </p:nvSpPr>
        <p:spPr>
          <a:xfrm>
            <a:off x="3200400" y="4462272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Premium Flights</a:t>
            </a:r>
          </a:p>
        </p:txBody>
      </p:sp>
      <p:sp>
        <p:nvSpPr>
          <p:cNvPr id="145" name="r145"/>
          <p:cNvSpPr>
            <a:spLocks noTextEdit="1"/>
          </p:cNvSpPr>
          <p:nvPr/>
        </p:nvSpPr>
        <p:spPr>
          <a:xfrm>
            <a:off x="6035040" y="4462272"/>
            <a:ext cx="2651760" cy="201168"/>
          </a:xfrm>
          <a:prstGeom prst="rect">
            <a:avLst/>
          </a:prstGeom>
          <a:solidFill>
            <a:srgbClr val="FFE8EE"/>
          </a:solidFill>
          <a:ln>
            <a:solidFill>
              <a:srgbClr val="FFCCDD"/>
            </a:solidFill>
          </a:ln>
        </p:spPr>
        <p:txBody>
          <a:bodyPr/>
          <a:lstStyle/>
          <a:p/>
        </p:txBody>
      </p:sp>
      <p:sp>
        <p:nvSpPr>
          <p:cNvPr id="146" name="t146"/>
          <p:cNvSpPr txBox="1"/>
          <p:nvPr/>
        </p:nvSpPr>
        <p:spPr>
          <a:xfrm>
            <a:off x="6035040" y="4462272"/>
            <a:ext cx="2651760" cy="20116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00" lang="en-GB">
                <a:solidFill>
                  <a:srgbClr val="A81B50"/>
                </a:solidFill>
              </a:rPr>
              <a:t>Tour Pricing</a:t>
            </a:r>
          </a:p>
        </p:txBody>
      </p:sp>
      <p:sp>
        <p:nvSpPr>
          <p:cNvPr id="150" name="r150"/>
          <p:cNvSpPr>
            <a:spLocks noTextEdit="1"/>
          </p:cNvSpPr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151"/>
          <p:cNvSpPr txBox="1"/>
          <p:nvPr/>
        </p:nvSpPr>
        <p:spPr>
          <a:xfrm>
            <a:off x="310896" y="4818888"/>
            <a:ext cx="8522208" cy="32918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sz="900" lang="en-GB">
                <a:solidFill>
                  <a:srgbClr val="FFCCDD"/>
                </a:solidFill>
              </a:rPr>
              <a:t>Age verification JS popup ensures all users confirm they are 18+ before accessing the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TextEdit="1"/>
          </p:cNvSpPr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pic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50292"/>
            <a:ext cx="13716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12"/>
          <p:cNvSpPr txBox="1"/>
          <p:nvPr/>
        </p:nvSpPr>
        <p:spPr>
          <a:xfrm>
            <a:off x="1572768" y="0"/>
            <a:ext cx="7223760" cy="64922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 lang="en-GB">
                <a:solidFill>
                  <a:srgbClr val="FFFFFF"/>
                </a:solidFill>
              </a:rPr>
              <a:t>04   Conclusion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10896" y="758952"/>
            <a:ext cx="8522208" cy="502920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2400" lang="en-GB">
                <a:solidFill>
                  <a:srgbClr val="A81B50"/>
                </a:solidFill>
              </a:rPr>
              <a:t>Project Takeaways</a:t>
            </a:r>
          </a:p>
        </p:txBody>
      </p:sp>
      <p:sp>
        <p:nvSpPr>
          <p:cNvPr id="100" name="r100"/>
          <p:cNvSpPr>
            <a:spLocks noTextEdit="1"/>
          </p:cNvSpPr>
          <p:nvPr/>
        </p:nvSpPr>
        <p:spPr>
          <a:xfrm>
            <a:off x="201168" y="1463040"/>
            <a:ext cx="4160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01" name="o101"/>
          <p:cNvSpPr/>
          <p:nvPr/>
        </p:nvSpPr>
        <p:spPr>
          <a:xfrm>
            <a:off x="329184" y="1865376"/>
            <a:ext cx="420624" cy="420624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b="1" sz="8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2" name="t102"/>
          <p:cNvSpPr txBox="1"/>
          <p:nvPr/>
        </p:nvSpPr>
        <p:spPr>
          <a:xfrm>
            <a:off x="859536" y="1554480"/>
            <a:ext cx="3364992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A81B50"/>
                </a:solidFill>
              </a:rPr>
              <a:t>Real-World Problem Solved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859536" y="1892808"/>
            <a:ext cx="3364992" cy="74980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BrewBound addresses the lack of a central craft brewery discovery platform for users.</a:t>
            </a:r>
          </a:p>
        </p:txBody>
      </p:sp>
      <p:sp>
        <p:nvSpPr>
          <p:cNvPr id="110" name="r110"/>
          <p:cNvSpPr>
            <a:spLocks noTextEdit="1"/>
          </p:cNvSpPr>
          <p:nvPr/>
        </p:nvSpPr>
        <p:spPr>
          <a:xfrm>
            <a:off x="4581144" y="1463040"/>
            <a:ext cx="4160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11" name="o111"/>
          <p:cNvSpPr/>
          <p:nvPr/>
        </p:nvSpPr>
        <p:spPr>
          <a:xfrm>
            <a:off x="4709159" y="1865376"/>
            <a:ext cx="420624" cy="420624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b="1" sz="8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5239512" y="1554480"/>
            <a:ext cx="3364992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A81B50"/>
                </a:solidFill>
              </a:rPr>
              <a:t>Core Web Skills Applied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5239512" y="1892808"/>
            <a:ext cx="3364992" cy="74980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HTML structure, CSS card layouts, and JavaScript interactivity all work together seamlessly.</a:t>
            </a:r>
          </a:p>
        </p:txBody>
      </p:sp>
      <p:sp>
        <p:nvSpPr>
          <p:cNvPr id="120" name="r120"/>
          <p:cNvSpPr>
            <a:spLocks noTextEdit="1"/>
          </p:cNvSpPr>
          <p:nvPr/>
        </p:nvSpPr>
        <p:spPr>
          <a:xfrm>
            <a:off x="201168" y="2907792"/>
            <a:ext cx="4160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21" name="o121"/>
          <p:cNvSpPr/>
          <p:nvPr/>
        </p:nvSpPr>
        <p:spPr>
          <a:xfrm>
            <a:off x="329184" y="3310128"/>
            <a:ext cx="420624" cy="420624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b="1" sz="8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59536" y="2999232"/>
            <a:ext cx="3364992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A81B50"/>
                </a:solidFill>
              </a:rPr>
              <a:t>User-Focused Features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59536" y="3337560"/>
            <a:ext cx="3364992" cy="74980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Beer ABV, IBU &amp; flavor profiles give users the right info before visiting any brewery.</a:t>
            </a:r>
          </a:p>
        </p:txBody>
      </p:sp>
      <p:sp>
        <p:nvSpPr>
          <p:cNvPr id="130" name="r130"/>
          <p:cNvSpPr>
            <a:spLocks noTextEdit="1"/>
          </p:cNvSpPr>
          <p:nvPr/>
        </p:nvSpPr>
        <p:spPr>
          <a:xfrm>
            <a:off x="4581144" y="2907792"/>
            <a:ext cx="4160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/>
          <a:lstStyle/>
          <a:p/>
        </p:txBody>
      </p:sp>
      <p:sp>
        <p:nvSpPr>
          <p:cNvPr id="131" name="o131"/>
          <p:cNvSpPr/>
          <p:nvPr/>
        </p:nvSpPr>
        <p:spPr>
          <a:xfrm>
            <a:off x="4709159" y="3310128"/>
            <a:ext cx="420624" cy="420624"/>
          </a:xfrm>
          <a:prstGeom prst="ellipse">
            <a:avLst/>
          </a:prstGeom>
          <a:solidFill>
            <a:srgbClr val="A81B5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b="1" sz="8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239512" y="2999232"/>
            <a:ext cx="3364992" cy="301752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-GB">
                <a:solidFill>
                  <a:srgbClr val="A81B50"/>
                </a:solidFill>
              </a:rPr>
              <a:t>Improved Event Discovery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5239512" y="3337560"/>
            <a:ext cx="3364992" cy="749808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1000" lang="en-GB">
                <a:solidFill>
                  <a:srgbClr val="555555"/>
                </a:solidFill>
              </a:rPr>
              <a:t>A dedicated events page helps users find and book tasting flights and brewery tours.</a:t>
            </a:r>
          </a:p>
        </p:txBody>
      </p:sp>
      <p:sp>
        <p:nvSpPr>
          <p:cNvPr id="150" name="r150"/>
          <p:cNvSpPr>
            <a:spLocks noTextEdit="1"/>
          </p:cNvSpPr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151"/>
          <p:cNvSpPr txBox="1"/>
          <p:nvPr/>
        </p:nvSpPr>
        <p:spPr>
          <a:xfrm>
            <a:off x="310896" y="4818888"/>
            <a:ext cx="8522208" cy="329184"/>
          </a:xfrm>
          <a:prstGeom prst="rect">
            <a:avLst/>
          </a:prstGeom>
        </p:spPr>
        <p:txBody>
          <a:bodyPr anchorCtr="0" anchor="t" bIns="45720" lIns="91425" rIns="91425" tIns="45720" wrap="square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sz="900" lang="en-GB">
                <a:solidFill>
                  <a:srgbClr val="FFCCDD"/>
                </a:solidFill>
              </a:rPr>
              <a:t>BrewBound — Craft Beer Discovery  ·  Manthan Shirke  ·  ITM Skills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